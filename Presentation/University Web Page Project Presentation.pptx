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E00"/>
    <a:srgbClr val="2D4F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053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27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26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24.png"/><Relationship Id="rId28" Type="http://schemas.openxmlformats.org/officeDocument/2006/relationships/image" Target="../media/image50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1171388"/>
            <a:ext cx="10668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168" dirty="0">
                <a:solidFill>
                  <a:srgbClr val="2D4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SUBMISSION — GROUP PRESENTATION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62000" y="2077482"/>
            <a:ext cx="10668000" cy="2057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8100"/>
              </a:lnSpc>
              <a:buNone/>
            </a:pPr>
            <a:r>
              <a:rPr lang="en-US" sz="9000" b="1" kern="0" spc="-36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
</a:t>
            </a:r>
            <a:r>
              <a:rPr lang="en-US" sz="9000" b="1" kern="0" spc="-360" dirty="0">
                <a:solidFill>
                  <a:srgbClr val="2D4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PAGE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762000" y="4439682"/>
            <a:ext cx="64008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56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development of a comprehensive academic platform for students and faculty.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406857" y="2155805"/>
            <a:ext cx="3429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b="1" kern="0" spc="7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06857" y="2647533"/>
            <a:ext cx="42523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 err="1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Okith</a:t>
            </a:r>
            <a:r>
              <a:rPr lang="en-US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		SC/2024/14241 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982075" y="5676900"/>
            <a:ext cx="24479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92490" y="5905500"/>
            <a:ext cx="29375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2D4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• CSS • JS • NODEJS • MYSQL</a:t>
            </a:r>
            <a:endParaRPr lang="en-US" sz="105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020A27A-11D7-27C0-E29C-F68DE80CDCC4}"/>
              </a:ext>
            </a:extLst>
          </p:cNvPr>
          <p:cNvSpPr/>
          <p:nvPr/>
        </p:nvSpPr>
        <p:spPr>
          <a:xfrm>
            <a:off x="7406857" y="4541302"/>
            <a:ext cx="42523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 err="1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Yehani</a:t>
            </a:r>
            <a:r>
              <a:rPr lang="en-US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		SC/2024/14249</a:t>
            </a:r>
            <a:endParaRPr lang="en-US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9BB2C1D-1174-0D5C-A10C-7FB1E5C92288}"/>
              </a:ext>
            </a:extLst>
          </p:cNvPr>
          <p:cNvSpPr/>
          <p:nvPr/>
        </p:nvSpPr>
        <p:spPr>
          <a:xfrm>
            <a:off x="7406857" y="3132388"/>
            <a:ext cx="42523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Mirun		SC/2024/14295</a:t>
            </a:r>
            <a:endParaRPr lang="en-US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B1E2AA44-7228-0576-6754-225B6F6C4CA5}"/>
              </a:ext>
            </a:extLst>
          </p:cNvPr>
          <p:cNvSpPr/>
          <p:nvPr/>
        </p:nvSpPr>
        <p:spPr>
          <a:xfrm>
            <a:off x="7406857" y="3605066"/>
            <a:ext cx="42523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 err="1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Oshini</a:t>
            </a:r>
            <a:r>
              <a:rPr lang="en-US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		SC/2024/14260</a:t>
            </a:r>
            <a:endParaRPr lang="en-US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F8B39F5-5757-3790-0362-92945178692C}"/>
              </a:ext>
            </a:extLst>
          </p:cNvPr>
          <p:cNvSpPr/>
          <p:nvPr/>
        </p:nvSpPr>
        <p:spPr>
          <a:xfrm>
            <a:off x="7406857" y="4073184"/>
            <a:ext cx="42523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Hansana		SC/2024/14246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53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5715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09850"/>
            <a:ext cx="1950690" cy="2133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2471" y="283845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8683" y="299085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1290" y="2609850"/>
            <a:ext cx="1950690" cy="2133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761" y="283845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0836" y="299085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580" y="2609850"/>
            <a:ext cx="1950690" cy="2133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051" y="283845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7264" y="29908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9871" y="2609850"/>
            <a:ext cx="1950690" cy="2133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0341" y="283845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5129" y="2990850"/>
            <a:ext cx="20002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79161" y="2609850"/>
            <a:ext cx="1950839" cy="2133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49780" y="283845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40280" y="299085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200650"/>
            <a:ext cx="10668000" cy="1371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800" y="571500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65964" y="5543550"/>
            <a:ext cx="2459236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70764" y="5848350"/>
            <a:ext cx="1008162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31326" y="5848350"/>
            <a:ext cx="993874" cy="381000"/>
          </a:xfrm>
          <a:prstGeom prst="rect">
            <a:avLst/>
          </a:prstGeom>
        </p:spPr>
      </p:pic>
      <p:pic>
        <p:nvPicPr>
          <p:cNvPr id="24" name="Image 22" descr="preencoded.png" hidden="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39400" y="6648450"/>
            <a:ext cx="76200" cy="76200"/>
          </a:xfrm>
          <a:prstGeom prst="rect">
            <a:avLst/>
          </a:prstGeom>
        </p:spPr>
      </p:pic>
      <p:pic>
        <p:nvPicPr>
          <p:cNvPr id="25" name="Image 23" descr="preencoded.png" hidden="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91800" y="6648450"/>
            <a:ext cx="76200" cy="76200"/>
          </a:xfrm>
          <a:prstGeom prst="rect">
            <a:avLst/>
          </a:prstGeom>
        </p:spPr>
      </p:pic>
      <p:pic>
        <p:nvPicPr>
          <p:cNvPr id="26" name="Image 24" descr="preencoded.png" hidden="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44200" y="6648450"/>
            <a:ext cx="76200" cy="76200"/>
          </a:xfrm>
          <a:prstGeom prst="rect">
            <a:avLst/>
          </a:prstGeom>
        </p:spPr>
      </p:pic>
      <p:pic>
        <p:nvPicPr>
          <p:cNvPr id="27" name="Image 25" descr="preencoded.png" hidden="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96600" y="6648450"/>
            <a:ext cx="76200" cy="76200"/>
          </a:xfrm>
          <a:prstGeom prst="rect">
            <a:avLst/>
          </a:prstGeom>
        </p:spPr>
      </p:pic>
      <p:pic>
        <p:nvPicPr>
          <p:cNvPr id="28" name="Image 26" descr="preencoded.png" hidden="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049000" y="6648450"/>
            <a:ext cx="76200" cy="76200"/>
          </a:xfrm>
          <a:prstGeom prst="rect">
            <a:avLst/>
          </a:prstGeom>
        </p:spPr>
      </p:pic>
      <p:pic>
        <p:nvPicPr>
          <p:cNvPr id="29" name="Image 27" descr="preencoded.png" hidden="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01400" y="6648450"/>
            <a:ext cx="76200" cy="76200"/>
          </a:xfrm>
          <a:prstGeom prst="rect">
            <a:avLst/>
          </a:prstGeom>
        </p:spPr>
      </p:pic>
      <p:pic>
        <p:nvPicPr>
          <p:cNvPr id="30" name="Image 28" descr="preencoded.png" hidden="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353800" y="6648450"/>
            <a:ext cx="762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762000" y="8001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the Project</a:t>
            </a:r>
            <a:endParaRPr lang="en-US" sz="3600" dirty="0"/>
          </a:p>
        </p:txBody>
      </p:sp>
      <p:sp>
        <p:nvSpPr>
          <p:cNvPr id="32" name="Text 1"/>
          <p:cNvSpPr/>
          <p:nvPr/>
        </p:nvSpPr>
        <p:spPr>
          <a:xfrm>
            <a:off x="762000" y="1409700"/>
            <a:ext cx="85344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university website serves as a central platform for students, staff, and visitors, acting as the primary digital gateway to academic life.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1171486" y="3600450"/>
            <a:ext cx="11315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Page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990600" y="3943350"/>
            <a:ext cx="149349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hub and starting point for all users.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3265051" y="3600450"/>
            <a:ext cx="1303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3169890" y="3943350"/>
            <a:ext cx="149349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information regarding academic units.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5678656" y="3600450"/>
            <a:ext cx="8343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Courses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5349180" y="3943350"/>
            <a:ext cx="14934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list of academic offerings.</a:t>
            </a:r>
            <a:endParaRPr lang="en-US" sz="1050" dirty="0"/>
          </a:p>
        </p:txBody>
      </p:sp>
      <p:sp>
        <p:nvSpPr>
          <p:cNvPr id="39" name="Text 8"/>
          <p:cNvSpPr/>
          <p:nvPr/>
        </p:nvSpPr>
        <p:spPr>
          <a:xfrm>
            <a:off x="7760791" y="3600450"/>
            <a:ext cx="102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</a:rPr>
              <a:t>News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7528471" y="3943350"/>
            <a:ext cx="149349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updates, announcements, and articles.</a:t>
            </a:r>
            <a:endParaRPr lang="en-US" sz="1050" dirty="0"/>
          </a:p>
        </p:txBody>
      </p:sp>
      <p:sp>
        <p:nvSpPr>
          <p:cNvPr id="41" name="Text 10"/>
          <p:cNvSpPr/>
          <p:nvPr/>
        </p:nvSpPr>
        <p:spPr>
          <a:xfrm>
            <a:off x="10054530" y="3600450"/>
            <a:ext cx="80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9707761" y="3943350"/>
            <a:ext cx="149363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communication channels for inquiries.</a:t>
            </a:r>
            <a:endParaRPr lang="en-US" sz="1050" dirty="0"/>
          </a:p>
        </p:txBody>
      </p:sp>
      <p:sp>
        <p:nvSpPr>
          <p:cNvPr id="43" name="Text 12"/>
          <p:cNvSpPr/>
          <p:nvPr/>
        </p:nvSpPr>
        <p:spPr>
          <a:xfrm>
            <a:off x="1638300" y="5505450"/>
            <a:ext cx="67228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Project Goal</a:t>
            </a:r>
            <a:endParaRPr lang="en-US" sz="1500" dirty="0"/>
          </a:p>
        </p:txBody>
      </p:sp>
      <p:sp>
        <p:nvSpPr>
          <p:cNvPr id="44" name="Text 13"/>
          <p:cNvSpPr/>
          <p:nvPr/>
        </p:nvSpPr>
        <p:spPr>
          <a:xfrm>
            <a:off x="1638300" y="5810250"/>
            <a:ext cx="672286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create a simple, clean, and user-friendly experience that prioritizes accessibility and accurate information delivery.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8970764" y="5581650"/>
            <a:ext cx="129623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AREAS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9015888" y="5953125"/>
            <a:ext cx="100816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Navigation</a:t>
            </a:r>
            <a:endParaRPr lang="en-US" sz="900" dirty="0"/>
          </a:p>
        </p:txBody>
      </p:sp>
      <p:sp>
        <p:nvSpPr>
          <p:cNvPr id="47" name="Text 16"/>
          <p:cNvSpPr/>
          <p:nvPr/>
        </p:nvSpPr>
        <p:spPr>
          <a:xfrm>
            <a:off x="10188476" y="5932487"/>
            <a:ext cx="993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46BC7F2-9E42-986E-4AB8-8B819C636677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9943" t="22094" r="20129" b="19992"/>
          <a:stretch>
            <a:fillRect/>
          </a:stretch>
        </p:blipFill>
        <p:spPr>
          <a:xfrm>
            <a:off x="7936081" y="2781300"/>
            <a:ext cx="693181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58025"/>
          </a:xfrm>
          <a:prstGeom prst="rect">
            <a:avLst/>
          </a:prstGeom>
          <a:noFill/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28800"/>
            <a:ext cx="10668000" cy="1524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38" y="2141552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2217752"/>
            <a:ext cx="322897" cy="4492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9738" y="2730817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6503" y="2993559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657600"/>
            <a:ext cx="5181600" cy="233838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39624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5" y="40386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" y="4648200"/>
            <a:ext cx="8477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8825" y="4648200"/>
            <a:ext cx="70485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47975" y="4648200"/>
            <a:ext cx="107632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657600"/>
            <a:ext cx="5181600" cy="233838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9624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7500" y="40386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4648200"/>
            <a:ext cx="222885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7500" y="4800600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96350" y="4648200"/>
            <a:ext cx="222885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10650" y="4800600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5219700"/>
            <a:ext cx="222885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53721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96350" y="5219700"/>
            <a:ext cx="222885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10650" y="537210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 hidden="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39400" y="6353175"/>
            <a:ext cx="76200" cy="76200"/>
          </a:xfrm>
          <a:prstGeom prst="rect">
            <a:avLst/>
          </a:prstGeom>
        </p:spPr>
      </p:pic>
      <p:pic>
        <p:nvPicPr>
          <p:cNvPr id="28" name="Image 26" descr="preencoded.png" hidden="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91800" y="6353175"/>
            <a:ext cx="76200" cy="76200"/>
          </a:xfrm>
          <a:prstGeom prst="rect">
            <a:avLst/>
          </a:prstGeom>
        </p:spPr>
      </p:pic>
      <p:pic>
        <p:nvPicPr>
          <p:cNvPr id="29" name="Image 27" descr="preencoded.png" hidden="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44200" y="6353175"/>
            <a:ext cx="76200" cy="76200"/>
          </a:xfrm>
          <a:prstGeom prst="rect">
            <a:avLst/>
          </a:prstGeom>
        </p:spPr>
      </p:pic>
      <p:pic>
        <p:nvPicPr>
          <p:cNvPr id="30" name="Image 28" descr="preencoded.png" hidden="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96600" y="6353175"/>
            <a:ext cx="76200" cy="76200"/>
          </a:xfrm>
          <a:prstGeom prst="rect">
            <a:avLst/>
          </a:prstGeom>
        </p:spPr>
      </p:pic>
      <p:pic>
        <p:nvPicPr>
          <p:cNvPr id="31" name="Image 29" descr="preencoded.png" hidden="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49000" y="6353175"/>
            <a:ext cx="76200" cy="76200"/>
          </a:xfrm>
          <a:prstGeom prst="rect">
            <a:avLst/>
          </a:prstGeom>
        </p:spPr>
      </p:pic>
      <p:pic>
        <p:nvPicPr>
          <p:cNvPr id="32" name="Image 30" descr="preencoded.png" hidden="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01400" y="6353175"/>
            <a:ext cx="76200" cy="76200"/>
          </a:xfrm>
          <a:prstGeom prst="rect">
            <a:avLst/>
          </a:prstGeom>
        </p:spPr>
      </p:pic>
      <p:pic>
        <p:nvPicPr>
          <p:cNvPr id="33" name="Image 31" descr="preencoded.png" hidden="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53800" y="6353175"/>
            <a:ext cx="76200" cy="762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762000" y="571500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Methodology</a:t>
            </a:r>
            <a:endParaRPr lang="en-US" sz="3600" dirty="0"/>
          </a:p>
        </p:txBody>
      </p:sp>
      <p:sp>
        <p:nvSpPr>
          <p:cNvPr id="35" name="Text 1"/>
          <p:cNvSpPr/>
          <p:nvPr/>
        </p:nvSpPr>
        <p:spPr>
          <a:xfrm>
            <a:off x="762000" y="1104900"/>
            <a:ext cx="1280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collaborative approach to full-stack web development.</a:t>
            </a:r>
            <a:endParaRPr lang="en-US" sz="1500" dirty="0"/>
          </a:p>
        </p:txBody>
      </p:sp>
      <p:sp>
        <p:nvSpPr>
          <p:cNvPr id="36" name="Text 2"/>
          <p:cNvSpPr/>
          <p:nvPr/>
        </p:nvSpPr>
        <p:spPr>
          <a:xfrm>
            <a:off x="1676400" y="2133600"/>
            <a:ext cx="42748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&amp; Version Control</a:t>
            </a:r>
            <a:endParaRPr lang="en-US" sz="1800" dirty="0"/>
          </a:p>
        </p:txBody>
      </p:sp>
      <p:sp>
        <p:nvSpPr>
          <p:cNvPr id="37" name="Text 3"/>
          <p:cNvSpPr/>
          <p:nvPr/>
        </p:nvSpPr>
        <p:spPr>
          <a:xfrm>
            <a:off x="1695062" y="2438400"/>
            <a:ext cx="4274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repository management via GitHub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1981955" y="2686050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division among group members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1975485" y="2948534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component integration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1676400" y="4038600"/>
            <a:ext cx="20459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800" dirty="0"/>
          </a:p>
        </p:txBody>
      </p:sp>
      <p:sp>
        <p:nvSpPr>
          <p:cNvPr id="41" name="Text 7"/>
          <p:cNvSpPr/>
          <p:nvPr/>
        </p:nvSpPr>
        <p:spPr>
          <a:xfrm>
            <a:off x="1219200" y="4719320"/>
            <a:ext cx="101727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2181225" y="4719320"/>
            <a:ext cx="8458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3000375" y="4709160"/>
            <a:ext cx="12915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1066800" y="5257800"/>
            <a:ext cx="4572000" cy="4333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Focused on creating a clean, responsive interface that ensures easy navigation for students and staff.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7162800" y="4038600"/>
            <a:ext cx="27317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Database</a:t>
            </a:r>
            <a:endParaRPr lang="en-US" sz="1800" dirty="0"/>
          </a:p>
        </p:txBody>
      </p:sp>
      <p:sp>
        <p:nvSpPr>
          <p:cNvPr id="46" name="Text 12"/>
          <p:cNvSpPr/>
          <p:nvPr/>
        </p:nvSpPr>
        <p:spPr>
          <a:xfrm>
            <a:off x="6877050" y="4762500"/>
            <a:ext cx="685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NodeJS</a:t>
            </a:r>
            <a:endParaRPr lang="en-US" sz="1200" dirty="0"/>
          </a:p>
        </p:txBody>
      </p:sp>
      <p:sp>
        <p:nvSpPr>
          <p:cNvPr id="47" name="Text 13"/>
          <p:cNvSpPr/>
          <p:nvPr/>
        </p:nvSpPr>
        <p:spPr>
          <a:xfrm>
            <a:off x="9220200" y="4762500"/>
            <a:ext cx="651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XAMPP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6896100" y="5334000"/>
            <a:ext cx="662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9220200" y="5334000"/>
            <a:ext cx="628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3769360" y="6376035"/>
            <a:ext cx="240726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ENVIRONMENT</a:t>
            </a:r>
            <a:endParaRPr lang="en-US" sz="900" dirty="0"/>
          </a:p>
        </p:txBody>
      </p:sp>
      <p:sp>
        <p:nvSpPr>
          <p:cNvPr id="51" name="Text 17"/>
          <p:cNvSpPr/>
          <p:nvPr/>
        </p:nvSpPr>
        <p:spPr>
          <a:xfrm>
            <a:off x="6537414" y="6356985"/>
            <a:ext cx="21602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</a:rPr>
              <a:t>INTEGRATED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</a:rPr>
              <a:t>WEB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</a:rPr>
              <a:t>ARCHITECTURE</a:t>
            </a:r>
          </a:p>
        </p:txBody>
      </p:sp>
      <p:pic>
        <p:nvPicPr>
          <p:cNvPr id="25" name="Image 23" descr="preencoded.png" hidden="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" y="6300788"/>
            <a:ext cx="10668000" cy="419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05805" y="6433185"/>
            <a:ext cx="457200" cy="381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94B849E-2343-C5A2-B1E7-CED3DA14779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51220" y="2132236"/>
            <a:ext cx="688528" cy="688528"/>
          </a:xfrm>
          <a:prstGeom prst="rect">
            <a:avLst/>
          </a:prstGeom>
        </p:spPr>
      </p:pic>
      <p:sp>
        <p:nvSpPr>
          <p:cNvPr id="54" name="Text 2">
            <a:extLst>
              <a:ext uri="{FF2B5EF4-FFF2-40B4-BE49-F238E27FC236}">
                <a16:creationId xmlns:a16="http://schemas.microsoft.com/office/drawing/2014/main" id="{C1ECFC92-8087-9F79-C2E2-55FBF6DEA322}"/>
              </a:ext>
            </a:extLst>
          </p:cNvPr>
          <p:cNvSpPr/>
          <p:nvPr/>
        </p:nvSpPr>
        <p:spPr>
          <a:xfrm>
            <a:off x="6865620" y="2152650"/>
            <a:ext cx="42748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A2170840-CEF9-2425-D770-BF365274C17B}"/>
              </a:ext>
            </a:extLst>
          </p:cNvPr>
          <p:cNvSpPr/>
          <p:nvPr/>
        </p:nvSpPr>
        <p:spPr>
          <a:xfrm>
            <a:off x="6781800" y="2190750"/>
            <a:ext cx="42748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Code Editor</a:t>
            </a:r>
            <a:endParaRPr lang="en-US" sz="18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EF3EEA8E-5C2D-10B1-14CB-215346C74DCD}"/>
              </a:ext>
            </a:extLst>
          </p:cNvPr>
          <p:cNvSpPr/>
          <p:nvPr/>
        </p:nvSpPr>
        <p:spPr>
          <a:xfrm>
            <a:off x="6826897" y="2442151"/>
            <a:ext cx="4274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and programming via VS Code</a:t>
            </a:r>
            <a:endParaRPr lang="en-US" sz="1200" dirty="0"/>
          </a:p>
        </p:txBody>
      </p:sp>
      <p:pic>
        <p:nvPicPr>
          <p:cNvPr id="57" name="Image 4" descr="preencoded.png">
            <a:extLst>
              <a:ext uri="{FF2B5EF4-FFF2-40B4-BE49-F238E27FC236}">
                <a16:creationId xmlns:a16="http://schemas.microsoft.com/office/drawing/2014/main" id="{D4CCA373-44D5-2C90-43A2-8083248E87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897" y="2771239"/>
            <a:ext cx="152400" cy="152400"/>
          </a:xfrm>
          <a:prstGeom prst="rect">
            <a:avLst/>
          </a:prstGeom>
        </p:spPr>
      </p:pic>
      <p:sp>
        <p:nvSpPr>
          <p:cNvPr id="58" name="Text 4">
            <a:extLst>
              <a:ext uri="{FF2B5EF4-FFF2-40B4-BE49-F238E27FC236}">
                <a16:creationId xmlns:a16="http://schemas.microsoft.com/office/drawing/2014/main" id="{AA6CAB33-9FBB-D81F-0209-1C61DE7602AC}"/>
              </a:ext>
            </a:extLst>
          </p:cNvPr>
          <p:cNvSpPr/>
          <p:nvPr/>
        </p:nvSpPr>
        <p:spPr>
          <a:xfrm>
            <a:off x="7171175" y="2715995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</a:rPr>
              <a:t>Task management within the team.</a:t>
            </a:r>
            <a:endParaRPr lang="en-US" sz="1200" dirty="0"/>
          </a:p>
        </p:txBody>
      </p:sp>
      <p:pic>
        <p:nvPicPr>
          <p:cNvPr id="62" name="Image 4" descr="preencoded.png">
            <a:extLst>
              <a:ext uri="{FF2B5EF4-FFF2-40B4-BE49-F238E27FC236}">
                <a16:creationId xmlns:a16="http://schemas.microsoft.com/office/drawing/2014/main" id="{986F40C1-9C0F-FEB2-0953-364B67EFA6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004" y="3007618"/>
            <a:ext cx="152400" cy="152400"/>
          </a:xfrm>
          <a:prstGeom prst="rect">
            <a:avLst/>
          </a:prstGeom>
        </p:spPr>
      </p:pic>
      <p:sp>
        <p:nvSpPr>
          <p:cNvPr id="63" name="Text 4">
            <a:extLst>
              <a:ext uri="{FF2B5EF4-FFF2-40B4-BE49-F238E27FC236}">
                <a16:creationId xmlns:a16="http://schemas.microsoft.com/office/drawing/2014/main" id="{91E70CE2-572F-A2C6-9D02-318437CFF066}"/>
              </a:ext>
            </a:extLst>
          </p:cNvPr>
          <p:cNvSpPr/>
          <p:nvPr/>
        </p:nvSpPr>
        <p:spPr>
          <a:xfrm>
            <a:off x="7174282" y="2971036"/>
            <a:ext cx="580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</a:rPr>
              <a:t>Powerful extensions for efficient code handling.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62000" y="476250"/>
            <a:ext cx="10668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168" dirty="0">
                <a:solidFill>
                  <a:srgbClr val="2D4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SHOWCASE</a:t>
            </a:r>
            <a:endParaRPr lang="en-US" sz="1050" dirty="0"/>
          </a:p>
        </p:txBody>
      </p:sp>
      <p:sp>
        <p:nvSpPr>
          <p:cNvPr id="21" name="Text 1"/>
          <p:cNvSpPr/>
          <p:nvPr/>
        </p:nvSpPr>
        <p:spPr>
          <a:xfrm>
            <a:off x="762000" y="742950"/>
            <a:ext cx="128016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</a:t>
            </a:r>
            <a:r>
              <a:rPr lang="en-US" sz="4500" b="1" kern="0" spc="-90" dirty="0">
                <a:solidFill>
                  <a:srgbClr val="2D4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45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E30E79-4B70-8CD4-3BBE-37B9CC9EE346}"/>
              </a:ext>
            </a:extLst>
          </p:cNvPr>
          <p:cNvGrpSpPr/>
          <p:nvPr/>
        </p:nvGrpSpPr>
        <p:grpSpPr>
          <a:xfrm>
            <a:off x="352426" y="1362648"/>
            <a:ext cx="3362324" cy="1576959"/>
            <a:chOff x="762000" y="1543051"/>
            <a:chExt cx="3724146" cy="1576959"/>
          </a:xfrm>
        </p:grpSpPr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0" y="1543051"/>
              <a:ext cx="3724146" cy="1576959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2500" y="1733550"/>
              <a:ext cx="257175" cy="304800"/>
            </a:xfrm>
            <a:prstGeom prst="rect">
              <a:avLst/>
            </a:prstGeom>
          </p:spPr>
        </p:pic>
        <p:sp>
          <p:nvSpPr>
            <p:cNvPr id="22" name="Text 2"/>
            <p:cNvSpPr/>
            <p:nvPr/>
          </p:nvSpPr>
          <p:spPr>
            <a:xfrm>
              <a:off x="952500" y="2114550"/>
              <a:ext cx="2606576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Home Page</a:t>
              </a:r>
              <a:endParaRPr lang="en-US" sz="1500" dirty="0"/>
            </a:p>
          </p:txBody>
        </p:sp>
        <p:sp>
          <p:nvSpPr>
            <p:cNvPr id="23" name="Text 3"/>
            <p:cNvSpPr/>
            <p:nvPr/>
          </p:nvSpPr>
          <p:spPr>
            <a:xfrm>
              <a:off x="952499" y="2419350"/>
              <a:ext cx="3375396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Central hub providing overview and quick access to sections.</a:t>
              </a:r>
              <a:endParaRPr lang="en-US" sz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A2AE8FA-43B1-22AD-F8B8-36FDEA339654}"/>
              </a:ext>
            </a:extLst>
          </p:cNvPr>
          <p:cNvGrpSpPr/>
          <p:nvPr/>
        </p:nvGrpSpPr>
        <p:grpSpPr>
          <a:xfrm>
            <a:off x="4627605" y="1364271"/>
            <a:ext cx="3329571" cy="1578675"/>
            <a:chOff x="3901976" y="1543051"/>
            <a:chExt cx="3805964" cy="1578675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1976" y="1543051"/>
              <a:ext cx="3805964" cy="1578675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92476" y="1733550"/>
              <a:ext cx="257175" cy="304800"/>
            </a:xfrm>
            <a:prstGeom prst="rect">
              <a:avLst/>
            </a:prstGeom>
          </p:spPr>
        </p:pic>
        <p:sp>
          <p:nvSpPr>
            <p:cNvPr id="24" name="Text 4"/>
            <p:cNvSpPr/>
            <p:nvPr/>
          </p:nvSpPr>
          <p:spPr>
            <a:xfrm>
              <a:off x="4092476" y="2114550"/>
              <a:ext cx="312807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Department Pages</a:t>
              </a:r>
              <a:endParaRPr lang="en-US" sz="1500" dirty="0"/>
            </a:p>
          </p:txBody>
        </p:sp>
        <p:sp>
          <p:nvSpPr>
            <p:cNvPr id="25" name="Text 5"/>
            <p:cNvSpPr/>
            <p:nvPr/>
          </p:nvSpPr>
          <p:spPr>
            <a:xfrm>
              <a:off x="4092476" y="2419350"/>
              <a:ext cx="3615464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Dedicated spaces for various academic departments.</a:t>
              </a:r>
              <a:endParaRPr lang="en-US" sz="12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4797B5D-5DAF-7394-5EF7-4A4DFB9B3835}"/>
              </a:ext>
            </a:extLst>
          </p:cNvPr>
          <p:cNvGrpSpPr/>
          <p:nvPr/>
        </p:nvGrpSpPr>
        <p:grpSpPr>
          <a:xfrm>
            <a:off x="2539844" y="3122312"/>
            <a:ext cx="3329571" cy="1598769"/>
            <a:chOff x="761999" y="3738563"/>
            <a:chExt cx="3329571" cy="1846222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1999" y="3738563"/>
              <a:ext cx="3329571" cy="1846222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2500" y="3929063"/>
              <a:ext cx="285750" cy="304800"/>
            </a:xfrm>
            <a:prstGeom prst="rect">
              <a:avLst/>
            </a:prstGeom>
          </p:spPr>
        </p:pic>
        <p:sp>
          <p:nvSpPr>
            <p:cNvPr id="26" name="Text 6"/>
            <p:cNvSpPr/>
            <p:nvPr/>
          </p:nvSpPr>
          <p:spPr>
            <a:xfrm>
              <a:off x="952500" y="4310063"/>
              <a:ext cx="3127891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Programs Page</a:t>
              </a:r>
              <a:endParaRPr lang="en-US" sz="1500" dirty="0"/>
            </a:p>
          </p:txBody>
        </p:sp>
        <p:sp>
          <p:nvSpPr>
            <p:cNvPr id="27" name="Text 7"/>
            <p:cNvSpPr/>
            <p:nvPr/>
          </p:nvSpPr>
          <p:spPr>
            <a:xfrm>
              <a:off x="952499" y="4658860"/>
              <a:ext cx="2794155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Catalog of available programs and modules.</a:t>
              </a:r>
              <a:endParaRPr lang="en-US" sz="12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7FE2F52-316F-F489-A330-00001B2243C8}"/>
              </a:ext>
            </a:extLst>
          </p:cNvPr>
          <p:cNvGrpSpPr/>
          <p:nvPr/>
        </p:nvGrpSpPr>
        <p:grpSpPr>
          <a:xfrm>
            <a:off x="352426" y="4972348"/>
            <a:ext cx="3329571" cy="1598019"/>
            <a:chOff x="3901976" y="3738564"/>
            <a:chExt cx="3329571" cy="1960629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01976" y="3738564"/>
              <a:ext cx="3329571" cy="1960629"/>
            </a:xfrm>
            <a:prstGeom prst="rect">
              <a:avLst/>
            </a:prstGeom>
          </p:spPr>
        </p:pic>
        <p:sp>
          <p:nvSpPr>
            <p:cNvPr id="28" name="Text 8"/>
            <p:cNvSpPr/>
            <p:nvPr/>
          </p:nvSpPr>
          <p:spPr>
            <a:xfrm>
              <a:off x="4092476" y="4310063"/>
              <a:ext cx="312807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News Page</a:t>
              </a:r>
              <a:endParaRPr lang="en-US" sz="1500" dirty="0"/>
            </a:p>
          </p:txBody>
        </p:sp>
        <p:sp>
          <p:nvSpPr>
            <p:cNvPr id="29" name="Text 9"/>
            <p:cNvSpPr/>
            <p:nvPr/>
          </p:nvSpPr>
          <p:spPr>
            <a:xfrm>
              <a:off x="4081523" y="4694546"/>
              <a:ext cx="2800349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Faculty news and upcoming important dates.</a:t>
              </a:r>
              <a:endParaRPr lang="en-US" sz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EFC2154-2F54-3E40-26DF-4C7AACDCD5D3}"/>
              </a:ext>
            </a:extLst>
          </p:cNvPr>
          <p:cNvGrpSpPr/>
          <p:nvPr/>
        </p:nvGrpSpPr>
        <p:grpSpPr>
          <a:xfrm>
            <a:off x="8249610" y="1553147"/>
            <a:ext cx="3974860" cy="4238625"/>
            <a:chOff x="7708850" y="1315594"/>
            <a:chExt cx="4083100" cy="423862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B44406F-08B9-DAC9-7E6E-A029E66D8F90}"/>
                </a:ext>
              </a:extLst>
            </p:cNvPr>
            <p:cNvGrpSpPr/>
            <p:nvPr/>
          </p:nvGrpSpPr>
          <p:grpSpPr>
            <a:xfrm>
              <a:off x="7708850" y="1315594"/>
              <a:ext cx="4083100" cy="4238625"/>
              <a:chOff x="7118300" y="1543050"/>
              <a:chExt cx="4083100" cy="4238625"/>
            </a:xfrm>
          </p:grpSpPr>
          <p:pic>
            <p:nvPicPr>
              <p:cNvPr id="11" name="Image 9" descr="preencoded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18300" y="1543050"/>
                <a:ext cx="3753991" cy="4238625"/>
              </a:xfrm>
              <a:prstGeom prst="rect">
                <a:avLst/>
              </a:prstGeom>
            </p:spPr>
          </p:pic>
          <p:pic>
            <p:nvPicPr>
              <p:cNvPr id="12" name="Image 10" descr="preencoded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46900" y="2747963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3" name="Image 11" descr="preencoded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46900" y="3357563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4" name="Image 12" descr="preencoded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46900" y="3967163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5" name="Image 13" descr="preencoded.png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46900" y="4652963"/>
                <a:ext cx="3372687" cy="266700"/>
              </a:xfrm>
              <a:prstGeom prst="rect">
                <a:avLst/>
              </a:prstGeom>
            </p:spPr>
          </p:pic>
          <p:pic>
            <p:nvPicPr>
              <p:cNvPr id="16" name="Image 14" descr="preencoded.png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6900" y="4767263"/>
                <a:ext cx="152400" cy="152400"/>
              </a:xfrm>
              <a:prstGeom prst="rect">
                <a:avLst/>
              </a:prstGeom>
            </p:spPr>
          </p:pic>
          <p:sp>
            <p:nvSpPr>
              <p:cNvPr id="30" name="Text 10"/>
              <p:cNvSpPr/>
              <p:nvPr/>
            </p:nvSpPr>
            <p:spPr>
              <a:xfrm>
                <a:off x="7346900" y="2405063"/>
                <a:ext cx="3854500" cy="1905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>
                  <a:lnSpc>
                    <a:spcPts val="1500"/>
                  </a:lnSpc>
                  <a:buNone/>
                </a:pPr>
                <a:r>
                  <a:rPr lang="en-US" sz="1050" b="1" kern="0" spc="84" dirty="0">
                    <a:solidFill>
                      <a:srgbClr val="00EE00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DEMONSTRATION FOCUS</a:t>
                </a:r>
                <a:endParaRPr lang="en-US" sz="1050" dirty="0">
                  <a:solidFill>
                    <a:srgbClr val="00EE00"/>
                  </a:solidFill>
                </a:endParaRPr>
              </a:p>
            </p:txBody>
          </p:sp>
          <p:sp>
            <p:nvSpPr>
              <p:cNvPr id="31" name="Text 11"/>
              <p:cNvSpPr/>
              <p:nvPr/>
            </p:nvSpPr>
            <p:spPr>
              <a:xfrm>
                <a:off x="7437388" y="2814638"/>
                <a:ext cx="365760" cy="3048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200"/>
                  </a:lnSpc>
                  <a:buNone/>
                </a:pPr>
                <a:r>
                  <a:rPr lang="en-US" sz="900" b="1" dirty="0">
                    <a:solidFill>
                      <a:srgbClr val="F5F5F0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01</a:t>
                </a:r>
                <a:endParaRPr lang="en-US" sz="900" dirty="0"/>
              </a:p>
            </p:txBody>
          </p:sp>
          <p:sp>
            <p:nvSpPr>
              <p:cNvPr id="32" name="Text 12"/>
              <p:cNvSpPr/>
              <p:nvPr/>
            </p:nvSpPr>
            <p:spPr>
              <a:xfrm>
                <a:off x="7804100" y="2747963"/>
                <a:ext cx="2766060" cy="2286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200" b="1" dirty="0">
                    <a:solidFill>
                      <a:srgbClr val="F5F5F0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Clean &amp; Modern UI</a:t>
                </a:r>
                <a:endParaRPr lang="en-US" sz="1200" dirty="0"/>
              </a:p>
            </p:txBody>
          </p:sp>
          <p:sp>
            <p:nvSpPr>
              <p:cNvPr id="33" name="Text 13"/>
              <p:cNvSpPr/>
              <p:nvPr/>
            </p:nvSpPr>
            <p:spPr>
              <a:xfrm>
                <a:off x="7804100" y="2976563"/>
                <a:ext cx="2766060" cy="1905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050" dirty="0">
                    <a:solidFill>
                      <a:srgbClr val="9CA3AF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Minimalist design with content focus.</a:t>
                </a:r>
                <a:endParaRPr lang="en-US" sz="1050" dirty="0"/>
              </a:p>
            </p:txBody>
          </p:sp>
          <p:sp>
            <p:nvSpPr>
              <p:cNvPr id="34" name="Text 14"/>
              <p:cNvSpPr/>
              <p:nvPr/>
            </p:nvSpPr>
            <p:spPr>
              <a:xfrm>
                <a:off x="7432884" y="3443288"/>
                <a:ext cx="365760" cy="3048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200"/>
                  </a:lnSpc>
                  <a:buNone/>
                </a:pPr>
                <a:r>
                  <a:rPr lang="en-US" sz="900" b="1" dirty="0">
                    <a:solidFill>
                      <a:srgbClr val="F5F5F0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02</a:t>
                </a:r>
                <a:endParaRPr lang="en-US" sz="900" dirty="0"/>
              </a:p>
            </p:txBody>
          </p:sp>
          <p:sp>
            <p:nvSpPr>
              <p:cNvPr id="35" name="Text 15"/>
              <p:cNvSpPr/>
              <p:nvPr/>
            </p:nvSpPr>
            <p:spPr>
              <a:xfrm>
                <a:off x="7804100" y="3357563"/>
                <a:ext cx="2068830" cy="2286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200" b="1" dirty="0">
                    <a:solidFill>
                      <a:srgbClr val="F5F5F0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Responsive Navigation</a:t>
                </a:r>
                <a:endParaRPr lang="en-US" sz="1200" dirty="0"/>
              </a:p>
            </p:txBody>
          </p:sp>
          <p:sp>
            <p:nvSpPr>
              <p:cNvPr id="36" name="Text 16"/>
              <p:cNvSpPr/>
              <p:nvPr/>
            </p:nvSpPr>
            <p:spPr>
              <a:xfrm>
                <a:off x="7804100" y="3586163"/>
                <a:ext cx="2068830" cy="1905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050" dirty="0">
                    <a:solidFill>
                      <a:srgbClr val="9CA3AF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Optimized for all devices.</a:t>
                </a:r>
                <a:endParaRPr lang="en-US" sz="1050" dirty="0"/>
              </a:p>
            </p:txBody>
          </p:sp>
          <p:sp>
            <p:nvSpPr>
              <p:cNvPr id="37" name="Text 17"/>
              <p:cNvSpPr/>
              <p:nvPr/>
            </p:nvSpPr>
            <p:spPr>
              <a:xfrm>
                <a:off x="7432884" y="4043363"/>
                <a:ext cx="365760" cy="3048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200"/>
                  </a:lnSpc>
                  <a:buNone/>
                </a:pPr>
                <a:r>
                  <a:rPr lang="en-US" sz="900" b="1" dirty="0">
                    <a:solidFill>
                      <a:srgbClr val="F5F5F0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03</a:t>
                </a:r>
                <a:endParaRPr lang="en-US" sz="900" dirty="0"/>
              </a:p>
            </p:txBody>
          </p:sp>
          <p:sp>
            <p:nvSpPr>
              <p:cNvPr id="38" name="Text 18"/>
              <p:cNvSpPr/>
              <p:nvPr/>
            </p:nvSpPr>
            <p:spPr>
              <a:xfrm>
                <a:off x="7804100" y="3967163"/>
                <a:ext cx="2651760" cy="2286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200" b="1" dirty="0">
                    <a:solidFill>
                      <a:srgbClr val="F5F5F0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Information Hierarchy</a:t>
                </a:r>
                <a:endParaRPr lang="en-US" sz="1200" dirty="0"/>
              </a:p>
            </p:txBody>
          </p:sp>
          <p:sp>
            <p:nvSpPr>
              <p:cNvPr id="39" name="Text 19"/>
              <p:cNvSpPr/>
              <p:nvPr/>
            </p:nvSpPr>
            <p:spPr>
              <a:xfrm>
                <a:off x="7804100" y="4195763"/>
                <a:ext cx="2651760" cy="1905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050" dirty="0">
                    <a:solidFill>
                      <a:srgbClr val="9CA3AF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Structured data for easy discovery.</a:t>
                </a:r>
                <a:endParaRPr lang="en-US" sz="1050" dirty="0"/>
              </a:p>
            </p:txBody>
          </p:sp>
        </p:grpSp>
        <p:sp>
          <p:nvSpPr>
            <p:cNvPr id="40" name="Text 20"/>
            <p:cNvSpPr/>
            <p:nvPr/>
          </p:nvSpPr>
          <p:spPr>
            <a:xfrm>
              <a:off x="8169860" y="4538663"/>
              <a:ext cx="1373922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b="1" kern="0" spc="-36" dirty="0">
                  <a:solidFill>
                    <a:srgbClr val="00EE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LIVE DEMO PREPARED</a:t>
              </a:r>
              <a:endParaRPr lang="en-US" sz="900" dirty="0">
                <a:solidFill>
                  <a:srgbClr val="00EE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E8D23E1-F18C-22C9-E013-C3529222B0C8}"/>
              </a:ext>
            </a:extLst>
          </p:cNvPr>
          <p:cNvGrpSpPr/>
          <p:nvPr/>
        </p:nvGrpSpPr>
        <p:grpSpPr>
          <a:xfrm>
            <a:off x="4627605" y="4972348"/>
            <a:ext cx="3654474" cy="1578675"/>
            <a:chOff x="3901976" y="1543051"/>
            <a:chExt cx="3318570" cy="1578675"/>
          </a:xfrm>
        </p:grpSpPr>
        <p:pic>
          <p:nvPicPr>
            <p:cNvPr id="51" name="Image 3" descr="preencoded.png">
              <a:extLst>
                <a:ext uri="{FF2B5EF4-FFF2-40B4-BE49-F238E27FC236}">
                  <a16:creationId xmlns:a16="http://schemas.microsoft.com/office/drawing/2014/main" id="{C168B0D7-E257-EFED-A14F-1513A098D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1976" y="1543051"/>
              <a:ext cx="3028540" cy="1578675"/>
            </a:xfrm>
            <a:prstGeom prst="rect">
              <a:avLst/>
            </a:prstGeom>
          </p:spPr>
        </p:pic>
        <p:sp>
          <p:nvSpPr>
            <p:cNvPr id="53" name="Text 4">
              <a:extLst>
                <a:ext uri="{FF2B5EF4-FFF2-40B4-BE49-F238E27FC236}">
                  <a16:creationId xmlns:a16="http://schemas.microsoft.com/office/drawing/2014/main" id="{1BF3A9A7-2A07-D9C0-173D-CDFB59FD753E}"/>
                </a:ext>
              </a:extLst>
            </p:cNvPr>
            <p:cNvSpPr/>
            <p:nvPr/>
          </p:nvSpPr>
          <p:spPr>
            <a:xfrm>
              <a:off x="4092476" y="2008854"/>
              <a:ext cx="312807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Contacts Pages</a:t>
              </a:r>
              <a:endParaRPr lang="en-US" sz="1500" dirty="0"/>
            </a:p>
          </p:txBody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C6723A08-D8C5-B500-93D4-EA7AEC8DDF0A}"/>
                </a:ext>
              </a:extLst>
            </p:cNvPr>
            <p:cNvSpPr/>
            <p:nvPr/>
          </p:nvSpPr>
          <p:spPr>
            <a:xfrm>
              <a:off x="4092476" y="2326825"/>
              <a:ext cx="2606725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200" dirty="0">
                  <a:solidFill>
                    <a:srgbClr val="4B556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Faculty directory with contact info and expertise.</a:t>
              </a:r>
              <a:endParaRPr lang="en-US" sz="1200" dirty="0"/>
            </a:p>
            <a:p>
              <a:pPr marL="0" indent="0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</a:t>
              </a:r>
              <a:endParaRPr lang="en-US" sz="1200" dirty="0"/>
            </a:p>
          </p:txBody>
        </p: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6949669F-CD2A-4301-F999-A81B9853FEA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37387" y="5073647"/>
            <a:ext cx="325299" cy="32529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ACE27DA-E542-5697-BC2A-64A0E124AB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2926" y="5134999"/>
            <a:ext cx="263947" cy="2639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38425"/>
            <a:ext cx="40005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350" y="2638425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701" y="2638425"/>
            <a:ext cx="457200" cy="457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42950" y="952500"/>
            <a:ext cx="10668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252" dirty="0">
                <a:solidFill>
                  <a:srgbClr val="2D4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NAVIGATING OBSTACLES</a:t>
            </a:r>
            <a:endParaRPr lang="en-US" sz="1050" dirty="0"/>
          </a:p>
        </p:txBody>
      </p:sp>
      <p:sp>
        <p:nvSpPr>
          <p:cNvPr id="15" name="Text 1"/>
          <p:cNvSpPr/>
          <p:nvPr/>
        </p:nvSpPr>
        <p:spPr>
          <a:xfrm>
            <a:off x="742950" y="1295400"/>
            <a:ext cx="1280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5400" b="1" kern="0" spc="-216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FACED</a:t>
            </a:r>
            <a:endParaRPr lang="en-US" sz="5400" dirty="0"/>
          </a:p>
        </p:txBody>
      </p:sp>
      <p:sp>
        <p:nvSpPr>
          <p:cNvPr id="16" name="Text 2"/>
          <p:cNvSpPr/>
          <p:nvPr/>
        </p:nvSpPr>
        <p:spPr>
          <a:xfrm>
            <a:off x="762000" y="3333750"/>
            <a:ext cx="32511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&amp; GITHUB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762000" y="4095750"/>
            <a:ext cx="325115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 up the repository and resolving complex merge conflicts during team collaboration required significant coordination and learning.</a:t>
            </a:r>
            <a:endParaRPr lang="en-US" sz="1350" dirty="0"/>
          </a:p>
        </p:txBody>
      </p:sp>
      <p:sp>
        <p:nvSpPr>
          <p:cNvPr id="18" name="Text 4"/>
          <p:cNvSpPr/>
          <p:nvPr/>
        </p:nvSpPr>
        <p:spPr>
          <a:xfrm>
            <a:off x="4470350" y="3333750"/>
            <a:ext cx="32511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TIME MANAGEMENT</a:t>
            </a:r>
            <a:endParaRPr lang="en-US" sz="1800" dirty="0"/>
          </a:p>
        </p:txBody>
      </p:sp>
      <p:sp>
        <p:nvSpPr>
          <p:cNvPr id="19" name="Text 5"/>
          <p:cNvSpPr/>
          <p:nvPr/>
        </p:nvSpPr>
        <p:spPr>
          <a:xfrm>
            <a:off x="4470350" y="4095750"/>
            <a:ext cx="325115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 intensive development tasks with regular lectures and ongoing studies was a major logistical hurdle for the team.</a:t>
            </a:r>
            <a:endParaRPr lang="en-US" sz="1350" dirty="0"/>
          </a:p>
        </p:txBody>
      </p:sp>
      <p:sp>
        <p:nvSpPr>
          <p:cNvPr id="20" name="Text 6"/>
          <p:cNvSpPr/>
          <p:nvPr/>
        </p:nvSpPr>
        <p:spPr>
          <a:xfrm>
            <a:off x="8178701" y="3333750"/>
            <a:ext cx="39015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INTEGRATION</a:t>
            </a:r>
            <a:endParaRPr lang="en-US" sz="1800" dirty="0"/>
          </a:p>
        </p:txBody>
      </p:sp>
      <p:sp>
        <p:nvSpPr>
          <p:cNvPr id="21" name="Text 7"/>
          <p:cNvSpPr/>
          <p:nvPr/>
        </p:nvSpPr>
        <p:spPr>
          <a:xfrm>
            <a:off x="8178700" y="4095750"/>
            <a:ext cx="3251299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connecting the frontend interface with the NodeJS backend and MySQL database required careful architecture and debugging.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1500"/>
            <a:ext cx="7620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81150"/>
            <a:ext cx="5410200" cy="20097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192305"/>
            <a:ext cx="523875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344705"/>
            <a:ext cx="21907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581150"/>
            <a:ext cx="5410200" cy="2009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2192305"/>
            <a:ext cx="66675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2344705"/>
            <a:ext cx="3619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819525"/>
            <a:ext cx="5410200" cy="18192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412020"/>
            <a:ext cx="552450" cy="647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456442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3819525"/>
            <a:ext cx="5410200" cy="18192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4412020"/>
            <a:ext cx="59055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456442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867400"/>
            <a:ext cx="11049000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6019800"/>
            <a:ext cx="1017389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41289" y="6019800"/>
            <a:ext cx="1133475" cy="2667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571500" y="781050"/>
            <a:ext cx="13258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</a:t>
            </a:r>
            <a:r>
              <a:rPr lang="en-US" sz="4500" b="1" kern="0" spc="-90" dirty="0">
                <a:solidFill>
                  <a:srgbClr val="2D4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ENHANCEMENTS</a:t>
            </a:r>
            <a:endParaRPr lang="en-US" sz="4500" dirty="0"/>
          </a:p>
        </p:txBody>
      </p:sp>
      <p:sp>
        <p:nvSpPr>
          <p:cNvPr id="27" name="Text 1"/>
          <p:cNvSpPr/>
          <p:nvPr/>
        </p:nvSpPr>
        <p:spPr>
          <a:xfrm>
            <a:off x="1552575" y="2192305"/>
            <a:ext cx="50406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&amp; Responsiveness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552575" y="2535205"/>
            <a:ext cx="420052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Refining the interface for seamless experience across devices.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7334250" y="2192305"/>
            <a:ext cx="4754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Access Systems</a:t>
            </a:r>
            <a:endParaRPr lang="en-US" sz="1800" dirty="0"/>
          </a:p>
        </p:txBody>
      </p:sp>
      <p:sp>
        <p:nvSpPr>
          <p:cNvPr id="30" name="Text 4"/>
          <p:cNvSpPr/>
          <p:nvPr/>
        </p:nvSpPr>
        <p:spPr>
          <a:xfrm>
            <a:off x="7334250" y="2535205"/>
            <a:ext cx="475488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portals for students and staff dashboards.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1581150" y="4412020"/>
            <a:ext cx="43319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Expansion</a:t>
            </a:r>
            <a:endParaRPr lang="en-US" sz="1800" dirty="0"/>
          </a:p>
        </p:txBody>
      </p:sp>
      <p:sp>
        <p:nvSpPr>
          <p:cNvPr id="32" name="Text 6"/>
          <p:cNvSpPr/>
          <p:nvPr/>
        </p:nvSpPr>
        <p:spPr>
          <a:xfrm>
            <a:off x="1581150" y="4754920"/>
            <a:ext cx="433197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architecture to support larger datasets.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7258050" y="4412020"/>
            <a:ext cx="4457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</a:rPr>
              <a:t>AI Chatbots</a:t>
            </a:r>
            <a:endParaRPr lang="en-US" sz="1800" dirty="0"/>
          </a:p>
        </p:txBody>
      </p:sp>
      <p:sp>
        <p:nvSpPr>
          <p:cNvPr id="34" name="Text 8"/>
          <p:cNvSpPr/>
          <p:nvPr/>
        </p:nvSpPr>
        <p:spPr>
          <a:xfrm>
            <a:off x="7258050" y="4754920"/>
            <a:ext cx="44577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</a:rPr>
              <a:t>Implementing AI chatbots for instant and personalized support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723900" y="6067425"/>
            <a:ext cx="12208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2.0</a:t>
            </a:r>
            <a:endParaRPr lang="en-US" sz="900" dirty="0"/>
          </a:p>
        </p:txBody>
      </p:sp>
      <p:sp>
        <p:nvSpPr>
          <p:cNvPr id="36" name="Text 10"/>
          <p:cNvSpPr/>
          <p:nvPr/>
        </p:nvSpPr>
        <p:spPr>
          <a:xfrm>
            <a:off x="1893689" y="6076950"/>
            <a:ext cx="13601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247775"/>
            <a:ext cx="3403550" cy="18478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66850"/>
            <a:ext cx="3619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150" y="1247775"/>
            <a:ext cx="3403550" cy="18478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1466850"/>
            <a:ext cx="3619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6301" y="1247775"/>
            <a:ext cx="3403699" cy="18478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801" y="1466850"/>
            <a:ext cx="2476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400425"/>
            <a:ext cx="10668000" cy="15621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561975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952500" y="1857375"/>
            <a:ext cx="3627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Development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952500" y="2162175"/>
            <a:ext cx="302255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frontend (HTML/CSS/JS) with backend (NodeJS/MySQL) architectures.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4584650" y="1857375"/>
            <a:ext cx="3022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Teamwork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4584650" y="2162175"/>
            <a:ext cx="302255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collaboration skills through task division and synchronized development.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8216801" y="1857375"/>
            <a:ext cx="36272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8216801" y="2162175"/>
            <a:ext cx="3022699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Mastered GitHub workflows and conflict resolution for project integrity.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1066800" y="3705225"/>
            <a:ext cx="100584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i="1" kern="0" spc="-1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26" name="Text 8"/>
          <p:cNvSpPr/>
          <p:nvPr/>
        </p:nvSpPr>
        <p:spPr>
          <a:xfrm>
            <a:off x="60960" y="4352925"/>
            <a:ext cx="12070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now open </a:t>
            </a:r>
            <a:r>
              <a:rPr lang="en-US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27" name="Text 9"/>
          <p:cNvSpPr/>
          <p:nvPr/>
        </p:nvSpPr>
        <p:spPr>
          <a:xfrm>
            <a:off x="762000" y="6286500"/>
            <a:ext cx="2228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Web Page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515</Words>
  <Application>Microsoft Office PowerPoint</Application>
  <PresentationFormat>Widescreen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K</cp:lastModifiedBy>
  <cp:revision>3</cp:revision>
  <dcterms:created xsi:type="dcterms:W3CDTF">2026-02-01T05:32:41Z</dcterms:created>
  <dcterms:modified xsi:type="dcterms:W3CDTF">2026-02-02T07:18:13Z</dcterms:modified>
</cp:coreProperties>
</file>